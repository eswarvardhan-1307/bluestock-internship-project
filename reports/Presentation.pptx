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 Light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  <p:embeddedFont>
      <p:font typeface="Open Sans Medium"/>
      <p:regular r:id="rId201319"/>
    </p:embeddedFont>
    <p:embeddedFont>
      <p:font typeface="Open Sans SemiBold"/>
      <p:regular r:id="rId201320"/>
    </p:embeddedFont>
    <p:embeddedFont>
      <p:font typeface="Open Sans Extra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94383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Mutual Fund Performance Analytics and Risk Assessment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35945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Python &amp; SQLite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Eswar Vardhan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7732"/>
            <a:ext cx="1057721" cy="188565"/>
          </a:xfrm>
          <a:prstGeom prst="roundRect">
            <a:avLst>
              <a:gd name="adj" fmla="val 7894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64939"/>
            <a:ext cx="136609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5968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This Project Does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1630"/>
            <a:ext cx="5192688" cy="29424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96136" y="1318468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6136" y="1620813"/>
            <a:ext cx="2656433" cy="1602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mutual fund performance using historical NAV data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risk through Sharpe, Sortino, Alpha, and Maximum Drawdown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cleaned, structured analytical database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actionable investment insights via Python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96136" y="3331443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96136" y="3633788"/>
            <a:ext cx="2656433" cy="1044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mutual fund schemes across categories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46,000 NAV records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32,778 investor transactions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holdings, benchmark indices, and AUM data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86221" cy="107603"/>
          </a:xfrm>
          <a:prstGeom prst="roundRect">
            <a:avLst>
              <a:gd name="adj" fmla="val 7905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858441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Architecture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57" y="786185"/>
            <a:ext cx="7272486" cy="39740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94731" y="2648244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Raw CSV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49912" y="2622388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Processed CSV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71232" y="2630667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 Reports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80000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structured end-to-end pipeline transforms raw fund data into validated, queryable datasets and ultimately into risk metrics and investment reports.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5226"/>
            <a:ext cx="1218902" cy="212006"/>
          </a:xfrm>
          <a:prstGeom prst="roundRect">
            <a:avLst>
              <a:gd name="adj" fmla="val 7899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79834" y="537046"/>
            <a:ext cx="1508671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PREPARATION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62149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Cleaning &amp; Database Design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58751"/>
            <a:ext cx="5179516" cy="29350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0767" y="1589336"/>
            <a:ext cx="263187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0767" y="1944737"/>
            <a:ext cx="2631877" cy="1251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Removed duplicate records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transaction types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Formatted dates consistently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Validated missing values, expense ratios, and NAV entries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20767" y="3333601"/>
            <a:ext cx="263187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SQLite Schema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0767" y="3689003"/>
            <a:ext cx="2631877" cy="787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Fact Tables:</a:t>
            </a:r>
            <a:pPr algn="l" indent="0" marL="0">
              <a:lnSpc>
                <a:spcPct val="132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fact_nav, fact_transactions, fact_performance, fact_aum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Dimension Tables: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dim_fund, dim_date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80877"/>
            <a:ext cx="1793528" cy="215354"/>
          </a:xfrm>
          <a:prstGeom prst="roundRect">
            <a:avLst>
              <a:gd name="adj" fmla="val 7900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223367"/>
            <a:ext cx="208061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EXPLORATORY DATA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529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Industry Growth Overview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10852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charts provide an overview of industry growth before advanced analytics.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494806"/>
            <a:ext cx="1371600" cy="847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3519636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Portfolio Growth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494806"/>
            <a:ext cx="1371600" cy="8476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298" y="3519636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 Group Distribution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494806"/>
            <a:ext cx="1371600" cy="8476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0553" y="3519636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Gender Distribution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494806"/>
            <a:ext cx="1371600" cy="8476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3519636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State SIP Distribution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40866"/>
            <a:ext cx="1011510" cy="215354"/>
          </a:xfrm>
          <a:prstGeom prst="roundRect">
            <a:avLst>
              <a:gd name="adj" fmla="val 7900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83357"/>
            <a:ext cx="129860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ANALYTICS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1292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 Metrics Computed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668512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6" name="Text 4"/>
          <p:cNvSpPr/>
          <p:nvPr/>
        </p:nvSpPr>
        <p:spPr>
          <a:xfrm>
            <a:off x="637877" y="1810271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Daily Returns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877" y="2116782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Day-over-day NAV change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668512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9" name="Text 7"/>
          <p:cNvSpPr/>
          <p:nvPr/>
        </p:nvSpPr>
        <p:spPr>
          <a:xfrm>
            <a:off x="4784601" y="1810271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CAGR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84601" y="2116782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Compounded annual growth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2627114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637877" y="2768873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Sharpe Ratio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7877" y="3075384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Risk-adjusted return vs. risk-free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2627114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4784601" y="2768873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Sortino Ratio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84601" y="3075384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Downside deviation-adjusted returns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585716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8" name="Text 16"/>
          <p:cNvSpPr/>
          <p:nvPr/>
        </p:nvSpPr>
        <p:spPr>
          <a:xfrm>
            <a:off x="637877" y="3727475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Alpha &amp; Beta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7877" y="4033986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Benchmark outperformance &amp; market sensitivity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585716"/>
            <a:ext cx="4005039" cy="816843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21" name="Text 19"/>
          <p:cNvSpPr/>
          <p:nvPr/>
        </p:nvSpPr>
        <p:spPr>
          <a:xfrm>
            <a:off x="4784601" y="3727475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Maximum Drawdown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84601" y="4033986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Largest peak-to-trough decline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46150"/>
            <a:ext cx="1430685" cy="215354"/>
          </a:xfrm>
          <a:prstGeom prst="roundRect">
            <a:avLst>
              <a:gd name="adj" fmla="val 7900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88640"/>
            <a:ext cx="171777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ANALYSIS 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1820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 Metrics: Top Performers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350" y="1765027"/>
            <a:ext cx="3691533" cy="17011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290" y="1765027"/>
            <a:ext cx="3402360" cy="1701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3716908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rolling Sharpe chart highlights funds with the strongest risk-adjusted returns over time, while the maximum drawdown chart identifies which schemes experienced the smallest peak-to-trough losses — both critical for evaluating downside protection and consistency.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95846" cy="107603"/>
          </a:xfrm>
          <a:prstGeom prst="roundRect">
            <a:avLst>
              <a:gd name="adj" fmla="val 7905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1068065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ANALYTICS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Sector Concentration &amp; Fund Scorecard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5238080" cy="2244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11900" y="1573485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Sector HHI Analysis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911900" y="1719635"/>
            <a:ext cx="2740670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Herfindahl-Hirschman Index measures portfolio concentration.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High HHI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funds are concentrated in fewer sectors;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low HHI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funds are well-diversified, reducing idiosyncratic risk.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5911900" y="2010221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Fund Scorecard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911900" y="2156371"/>
            <a:ext cx="274067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composite ranking combines 3-year return, Sharpe ratio, Alpha, expense ratio, and maximum drawdown into a single comparable score across all 40 schemes.</a:t>
            </a:r>
            <a:endParaRPr lang="en-US" sz="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3150096"/>
            <a:ext cx="8151763" cy="40758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813197" cy="107603"/>
          </a:xfrm>
          <a:prstGeom prst="roundRect">
            <a:avLst>
              <a:gd name="adj" fmla="val 7905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1185416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BENCHMARK COMPARISON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Funds vs. NIFTY50 &amp; NIFTY100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5238080" cy="26190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11900" y="1979116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Benchmark Comparison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911900" y="2125266"/>
            <a:ext cx="274067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5 funds are benchmarked against NIFTY50 and NIFTY100 to evaluate relative outperformance, tracking error, and consistency across market cycles.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96119" y="3537942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Tracking Error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496119" y="3701802"/>
            <a:ext cx="8151763" cy="855315"/>
          </a:xfrm>
          <a:prstGeom prst="roundRect">
            <a:avLst>
              <a:gd name="adj" fmla="val 124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6119" y="3845942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96119" y="3987701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96119" y="4129460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96119" y="4271218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96119" y="4412977"/>
            <a:ext cx="8151763" cy="47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71723" y="3732535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Fund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4642842" y="3732535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Tracking Error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571723" y="3874294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Fund 1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4642842" y="3874294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571723" y="4016053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Fund 2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4642842" y="4016053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Moderate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571723" y="4157811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Fund 3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4642842" y="4157811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571723" y="4299570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Fund 4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4642842" y="4299570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Moderate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571723" y="4441329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Fund 5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4642842" y="4441329"/>
            <a:ext cx="438663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</a:t>
            </a:r>
            <a:endParaRPr lang="en-US" sz="550" dirty="0"/>
          </a:p>
        </p:txBody>
      </p:sp>
      <p:sp>
        <p:nvSpPr>
          <p:cNvPr id="27" name="Shape 24"/>
          <p:cNvSpPr/>
          <p:nvPr/>
        </p:nvSpPr>
        <p:spPr>
          <a:xfrm>
            <a:off x="496119" y="4596929"/>
            <a:ext cx="8151763" cy="196155"/>
          </a:xfrm>
          <a:prstGeom prst="roundRect">
            <a:avLst>
              <a:gd name="adj" fmla="val 5421"/>
            </a:avLst>
          </a:prstGeom>
          <a:solidFill>
            <a:srgbClr val="D7D6F5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61" y="4685481"/>
            <a:ext cx="88553" cy="7084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26356" y="4650060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Lower tracking error indicates closer alignment with the benchmark index.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55253"/>
            <a:ext cx="896615" cy="215354"/>
          </a:xfrm>
          <a:prstGeom prst="roundRect">
            <a:avLst>
              <a:gd name="adj" fmla="val 7900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97744"/>
            <a:ext cx="11837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2731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the Data Reveals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82899"/>
            <a:ext cx="4004965" cy="10817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3127" y="2043708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Best Risk-Adjusted Returns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3127" y="2350219"/>
            <a:ext cx="3607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fund led in Sharpe and Sortino ratios with strong downside protection.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882899"/>
            <a:ext cx="4005039" cy="10817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79851" y="2043708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Highest CAGR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79851" y="2350219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concentrated equity fund delivered the strongest compounded growth over the period.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06415"/>
            <a:ext cx="4004965" cy="10817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3127" y="3267224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Strongest Investor Cohort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33127" y="3573735"/>
            <a:ext cx="3607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Mid-career investors showed the highest SIP continuity and portfolio growth rates.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106415"/>
            <a:ext cx="4005039" cy="108175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79851" y="3267224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Diversified vs. Concentrated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879851" y="3573735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Diversified funds showed lower drawdowns; concentrated funds delivered higher alpha.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2026-07-10T06:24:31Z</dcterms:created>
  <dcterms:modified xsi:type="dcterms:W3CDTF">2026-07-10T06:24:31Z</dcterms:modified>
</cp:coreProperties>
</file>